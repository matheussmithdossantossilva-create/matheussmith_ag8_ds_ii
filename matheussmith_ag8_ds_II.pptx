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ptos Bold" charset="1" panose="020B0004020202020204"/>
      <p:regular r:id="rId24"/>
    </p:embeddedFont>
    <p:embeddedFont>
      <p:font typeface="Aptos" charset="1" panose="020B0004020202020204"/>
      <p:regular r:id="rId25"/>
    </p:embeddedFont>
    <p:embeddedFont>
      <p:font typeface="Consolas" charset="1" panose="020B0609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7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2235" y="1578569"/>
            <a:ext cx="1715843" cy="1715843"/>
            <a:chOff x="0" y="0"/>
            <a:chExt cx="2287791" cy="2287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778" cy="2287778"/>
            </a:xfrm>
            <a:custGeom>
              <a:avLst/>
              <a:gdLst/>
              <a:ahLst/>
              <a:cxnLst/>
              <a:rect r="r" b="b" t="t" l="l"/>
              <a:pathLst>
                <a:path h="2287778" w="2287778">
                  <a:moveTo>
                    <a:pt x="0" y="381254"/>
                  </a:moveTo>
                  <a:cubicBezTo>
                    <a:pt x="0" y="170688"/>
                    <a:pt x="170688" y="0"/>
                    <a:pt x="381254" y="0"/>
                  </a:cubicBezTo>
                  <a:lnTo>
                    <a:pt x="1906524" y="0"/>
                  </a:lnTo>
                  <a:cubicBezTo>
                    <a:pt x="2117090" y="0"/>
                    <a:pt x="2287778" y="170688"/>
                    <a:pt x="2287778" y="381254"/>
                  </a:cubicBezTo>
                  <a:lnTo>
                    <a:pt x="2287778" y="1906524"/>
                  </a:lnTo>
                  <a:cubicBezTo>
                    <a:pt x="2287778" y="2117090"/>
                    <a:pt x="2117090" y="2287778"/>
                    <a:pt x="1906524" y="2287778"/>
                  </a:cubicBezTo>
                  <a:lnTo>
                    <a:pt x="381254" y="2287778"/>
                  </a:lnTo>
                  <a:cubicBezTo>
                    <a:pt x="170688" y="2287778"/>
                    <a:pt x="0" y="2117090"/>
                    <a:pt x="0" y="1906524"/>
                  </a:cubicBezTo>
                  <a:close/>
                </a:path>
              </a:pathLst>
            </a:custGeom>
            <a:solidFill>
              <a:srgbClr val="00796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962127" y="6726098"/>
            <a:ext cx="2264912" cy="2264912"/>
            <a:chOff x="0" y="0"/>
            <a:chExt cx="3019882" cy="3019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19806" cy="3019806"/>
            </a:xfrm>
            <a:custGeom>
              <a:avLst/>
              <a:gdLst/>
              <a:ahLst/>
              <a:cxnLst/>
              <a:rect r="r" b="b" t="t" l="l"/>
              <a:pathLst>
                <a:path h="3019806" w="3019806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2516505" y="0"/>
                  </a:lnTo>
                  <a:cubicBezTo>
                    <a:pt x="2794508" y="0"/>
                    <a:pt x="3019806" y="225298"/>
                    <a:pt x="3019806" y="503301"/>
                  </a:cubicBezTo>
                  <a:lnTo>
                    <a:pt x="3019806" y="2516505"/>
                  </a:lnTo>
                  <a:cubicBezTo>
                    <a:pt x="3019806" y="2794508"/>
                    <a:pt x="2794508" y="3019806"/>
                    <a:pt x="2516505" y="3019806"/>
                  </a:cubicBezTo>
                  <a:lnTo>
                    <a:pt x="503301" y="3019806"/>
                  </a:lnTo>
                  <a:cubicBezTo>
                    <a:pt x="225298" y="3019933"/>
                    <a:pt x="0" y="2794508"/>
                    <a:pt x="0" y="2516505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58088" y="1372676"/>
            <a:ext cx="2882608" cy="617706"/>
            <a:chOff x="0" y="0"/>
            <a:chExt cx="3843477" cy="823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3528" cy="823595"/>
            </a:xfrm>
            <a:custGeom>
              <a:avLst/>
              <a:gdLst/>
              <a:ahLst/>
              <a:cxnLst/>
              <a:rect r="r" b="b" t="t" l="l"/>
              <a:pathLst>
                <a:path h="823595" w="3843528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lnTo>
                    <a:pt x="3706241" y="0"/>
                  </a:lnTo>
                  <a:cubicBezTo>
                    <a:pt x="3782060" y="0"/>
                    <a:pt x="3843528" y="61468"/>
                    <a:pt x="3843528" y="137287"/>
                  </a:cubicBezTo>
                  <a:lnTo>
                    <a:pt x="3843528" y="686308"/>
                  </a:lnTo>
                  <a:cubicBezTo>
                    <a:pt x="3843528" y="762127"/>
                    <a:pt x="3782060" y="823595"/>
                    <a:pt x="3706241" y="823595"/>
                  </a:cubicBezTo>
                  <a:lnTo>
                    <a:pt x="137287" y="823595"/>
                  </a:lnTo>
                  <a:cubicBezTo>
                    <a:pt x="61468" y="823595"/>
                    <a:pt x="0" y="762127"/>
                    <a:pt x="0" y="686308"/>
                  </a:cubicBez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81813" y="2163842"/>
            <a:ext cx="14092914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Projeto Lista de Amigos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00796B"/>
                </a:solidFill>
                <a:latin typeface="Aptos"/>
                <a:ea typeface="Aptos"/>
                <a:cs typeface="Aptos"/>
                <a:sym typeface="Aptos"/>
              </a:rPr>
              <a:t>CRUD + Sistema de Login com PHP e Sessions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Apresentação — Agenda 08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83229" y="5826709"/>
            <a:ext cx="6740395" cy="1867405"/>
            <a:chOff x="0" y="0"/>
            <a:chExt cx="8987193" cy="24898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87282" cy="2489962"/>
            </a:xfrm>
            <a:custGeom>
              <a:avLst/>
              <a:gdLst/>
              <a:ahLst/>
              <a:cxnLst/>
              <a:rect r="r" b="b" t="t" l="l"/>
              <a:pathLst>
                <a:path h="2489962" w="898728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8572246" y="0"/>
                  </a:lnTo>
                  <a:cubicBezTo>
                    <a:pt x="8801481" y="0"/>
                    <a:pt x="8987282" y="185801"/>
                    <a:pt x="8987282" y="415036"/>
                  </a:cubicBezTo>
                  <a:lnTo>
                    <a:pt x="8987282" y="2074926"/>
                  </a:lnTo>
                  <a:cubicBezTo>
                    <a:pt x="8987282" y="2304161"/>
                    <a:pt x="8801481" y="2489962"/>
                    <a:pt x="8572246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990373" y="5833853"/>
            <a:ext cx="109814" cy="1853108"/>
            <a:chOff x="0" y="0"/>
            <a:chExt cx="146418" cy="24708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424979" y="6126661"/>
            <a:ext cx="592551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Projeto analisado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24979" y="6812994"/>
            <a:ext cx="5925512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Exemplo MergulhandoNoTemaSession + aplicação VocêNoComando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89758" y="5826709"/>
            <a:ext cx="6740395" cy="1867405"/>
            <a:chOff x="0" y="0"/>
            <a:chExt cx="8987193" cy="24898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87282" cy="2489962"/>
            </a:xfrm>
            <a:custGeom>
              <a:avLst/>
              <a:gdLst/>
              <a:ahLst/>
              <a:cxnLst/>
              <a:rect r="r" b="b" t="t" l="l"/>
              <a:pathLst>
                <a:path h="2489962" w="898728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8572246" y="0"/>
                  </a:lnTo>
                  <a:cubicBezTo>
                    <a:pt x="8801481" y="0"/>
                    <a:pt x="8987282" y="185801"/>
                    <a:pt x="8987282" y="415036"/>
                  </a:cubicBezTo>
                  <a:lnTo>
                    <a:pt x="8987282" y="2074926"/>
                  </a:lnTo>
                  <a:cubicBezTo>
                    <a:pt x="8987282" y="2304161"/>
                    <a:pt x="8801481" y="2489962"/>
                    <a:pt x="8572246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196902" y="5833853"/>
            <a:ext cx="109814" cy="1853108"/>
            <a:chOff x="0" y="0"/>
            <a:chExt cx="146418" cy="24708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631509" y="6126661"/>
            <a:ext cx="592551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Tecnologias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509" y="6812994"/>
            <a:ext cx="5925512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PHP • MySQL • HTML • W3.CSS • Sessions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Objetivo da apresentação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VISÃO GERAL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1898828"/>
            <a:ext cx="16014659" cy="71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Apresentar o funcionamento completo do cadastro de amigos (CRUD).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Explicar o sistema de login e o controle de acesso com sessões.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Comentar o uso de require, require_once, include e include_once.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Mostrar como os arquivos PHP se conectam e dividem responsabilidades.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Relacionar os conceitos da Agenda 08 com os exemplos práticos fornecidos.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Estrutura do projeto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ARQUITETURA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719" y="1777327"/>
            <a:ext cx="5230454" cy="6603130"/>
            <a:chOff x="0" y="0"/>
            <a:chExt cx="6973938" cy="8804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73951" cy="8804148"/>
            </a:xfrm>
            <a:custGeom>
              <a:avLst/>
              <a:gdLst/>
              <a:ahLst/>
              <a:cxnLst/>
              <a:rect r="r" b="b" t="t" l="l"/>
              <a:pathLst>
                <a:path h="8804148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641844"/>
                  </a:lnTo>
                  <a:cubicBezTo>
                    <a:pt x="6973951" y="8283828"/>
                    <a:pt x="6453505" y="8804148"/>
                    <a:pt x="5811647" y="8804148"/>
                  </a:cubicBezTo>
                  <a:lnTo>
                    <a:pt x="1162304" y="8804148"/>
                  </a:lnTo>
                  <a:cubicBezTo>
                    <a:pt x="520446" y="8804148"/>
                    <a:pt x="0" y="8283829"/>
                    <a:pt x="0" y="764184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872" y="1784471"/>
            <a:ext cx="109814" cy="6588824"/>
            <a:chOff x="0" y="0"/>
            <a:chExt cx="146418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8785098"/>
            </a:xfrm>
            <a:custGeom>
              <a:avLst/>
              <a:gdLst/>
              <a:ahLst/>
              <a:cxnLst/>
              <a:rect r="r" b="b" t="t" l="l"/>
              <a:pathLst>
                <a:path h="878509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95479" y="2077279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Autenticação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5479" y="2763612"/>
            <a:ext cx="4415571" cy="53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index.php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loginAction.php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verificarAcesso.php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logoutAction.php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acessoNegado.php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3043" y="1777327"/>
            <a:ext cx="5230454" cy="6603130"/>
            <a:chOff x="0" y="0"/>
            <a:chExt cx="6973938" cy="8804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3951" cy="8804148"/>
            </a:xfrm>
            <a:custGeom>
              <a:avLst/>
              <a:gdLst/>
              <a:ahLst/>
              <a:cxnLst/>
              <a:rect r="r" b="b" t="t" l="l"/>
              <a:pathLst>
                <a:path h="8804148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641844"/>
                  </a:lnTo>
                  <a:cubicBezTo>
                    <a:pt x="6973951" y="8283828"/>
                    <a:pt x="6453505" y="8804148"/>
                    <a:pt x="5811647" y="8804148"/>
                  </a:cubicBezTo>
                  <a:lnTo>
                    <a:pt x="1162304" y="8804148"/>
                  </a:lnTo>
                  <a:cubicBezTo>
                    <a:pt x="520446" y="8804148"/>
                    <a:pt x="0" y="8283829"/>
                    <a:pt x="0" y="764184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20196" y="1784471"/>
            <a:ext cx="109814" cy="6588824"/>
            <a:chOff x="0" y="0"/>
            <a:chExt cx="146418" cy="87850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" cy="8785098"/>
            </a:xfrm>
            <a:custGeom>
              <a:avLst/>
              <a:gdLst/>
              <a:ahLst/>
              <a:cxnLst/>
              <a:rect r="r" b="b" t="t" l="l"/>
              <a:pathLst>
                <a:path h="878509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54803" y="2077279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CRUD de amigos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4803" y="2763612"/>
            <a:ext cx="4415571" cy="53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cadastro.php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cadastroAction.php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listar.php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atualizar.php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atualizarAction.php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excluir.php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excluirAction.php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72366" y="1777327"/>
            <a:ext cx="5230454" cy="6603130"/>
            <a:chOff x="0" y="0"/>
            <a:chExt cx="6973938" cy="88041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73951" cy="8804148"/>
            </a:xfrm>
            <a:custGeom>
              <a:avLst/>
              <a:gdLst/>
              <a:ahLst/>
              <a:cxnLst/>
              <a:rect r="r" b="b" t="t" l="l"/>
              <a:pathLst>
                <a:path h="8804148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641844"/>
                  </a:lnTo>
                  <a:cubicBezTo>
                    <a:pt x="6973951" y="8283828"/>
                    <a:pt x="6453505" y="8804148"/>
                    <a:pt x="5811647" y="8804148"/>
                  </a:cubicBezTo>
                  <a:lnTo>
                    <a:pt x="1162304" y="8804148"/>
                  </a:lnTo>
                  <a:cubicBezTo>
                    <a:pt x="520446" y="8804148"/>
                    <a:pt x="0" y="8283829"/>
                    <a:pt x="0" y="764184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9519" y="1784471"/>
            <a:ext cx="109814" cy="6588824"/>
            <a:chOff x="0" y="0"/>
            <a:chExt cx="146418" cy="87850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8785098"/>
            </a:xfrm>
            <a:custGeom>
              <a:avLst/>
              <a:gdLst/>
              <a:ahLst/>
              <a:cxnLst/>
              <a:rect r="r" b="b" t="t" l="l"/>
              <a:pathLst>
                <a:path h="878509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514126" y="2077279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Componentes reutilizados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14126" y="2763612"/>
            <a:ext cx="4415571" cy="53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cabecalho.php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rodape.php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conexaoBD.php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Banco MySQL: pwii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Banco de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MYSQL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500" y="1715843"/>
            <a:ext cx="8510568" cy="6726098"/>
            <a:chOff x="0" y="0"/>
            <a:chExt cx="11347425" cy="8968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47323" cy="8968105"/>
            </a:xfrm>
            <a:custGeom>
              <a:avLst/>
              <a:gdLst/>
              <a:ahLst/>
              <a:cxnLst/>
              <a:rect r="r" b="b" t="t" l="l"/>
              <a:pathLst>
                <a:path h="8968105" w="11347323">
                  <a:moveTo>
                    <a:pt x="0" y="1494663"/>
                  </a:moveTo>
                  <a:cubicBezTo>
                    <a:pt x="0" y="669163"/>
                    <a:pt x="669163" y="0"/>
                    <a:pt x="1494663" y="0"/>
                  </a:cubicBezTo>
                  <a:lnTo>
                    <a:pt x="9852660" y="0"/>
                  </a:lnTo>
                  <a:cubicBezTo>
                    <a:pt x="10678160" y="0"/>
                    <a:pt x="11347323" y="669163"/>
                    <a:pt x="11347323" y="1494663"/>
                  </a:cubicBezTo>
                  <a:lnTo>
                    <a:pt x="11347323" y="7473442"/>
                  </a:lnTo>
                  <a:cubicBezTo>
                    <a:pt x="11347323" y="8298942"/>
                    <a:pt x="10678160" y="8968105"/>
                    <a:pt x="9852660" y="8968105"/>
                  </a:cubicBezTo>
                  <a:lnTo>
                    <a:pt x="1494663" y="8968105"/>
                  </a:lnTo>
                  <a:cubicBezTo>
                    <a:pt x="669163" y="8968105"/>
                    <a:pt x="0" y="8298942"/>
                    <a:pt x="0" y="7473442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8028" y="1888179"/>
            <a:ext cx="7833531" cy="634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CREATE SCHEMA pwii;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USE pwii;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CREATE TABLE amigo (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idamigo INT NOT NULL AUTO_INCREMENT,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nome VARCHAR(45) NOT NULL,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apelido VARCHAR(45) NOT NULL,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email VARCHAR(45) NOT NULL,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PRIMARY KEY (idamigo)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CREATE TABLE usuario (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idusuario INT NOT NULL AUTO_INCREMENT,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nome VARCHAR(45) NOT NULL,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senha VARCHAR(45) NOT NULL,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PRIMARY KEY (idusuario)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81993" y="1845955"/>
            <a:ext cx="7083562" cy="2141944"/>
            <a:chOff x="0" y="0"/>
            <a:chExt cx="9444749" cy="28559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44736" cy="2855976"/>
            </a:xfrm>
            <a:custGeom>
              <a:avLst/>
              <a:gdLst/>
              <a:ahLst/>
              <a:cxnLst/>
              <a:rect r="r" b="b" t="t" l="l"/>
              <a:pathLst>
                <a:path h="2855976" w="944473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8968740" y="0"/>
                  </a:lnTo>
                  <a:cubicBezTo>
                    <a:pt x="9231630" y="0"/>
                    <a:pt x="9444736" y="213106"/>
                    <a:pt x="9444736" y="475996"/>
                  </a:cubicBezTo>
                  <a:lnTo>
                    <a:pt x="9444736" y="2379980"/>
                  </a:lnTo>
                  <a:cubicBezTo>
                    <a:pt x="9444736" y="2642870"/>
                    <a:pt x="9231630" y="2855976"/>
                    <a:pt x="8968740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089147" y="1853108"/>
            <a:ext cx="109814" cy="2127647"/>
            <a:chOff x="0" y="0"/>
            <a:chExt cx="146418" cy="2836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523753" y="2145906"/>
            <a:ext cx="626867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Tabela amigo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23753" y="2832249"/>
            <a:ext cx="6268679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Armazena os dados usados no CRUD: código, nome, apelido e e-mail.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81993" y="4248131"/>
            <a:ext cx="7083562" cy="2141944"/>
            <a:chOff x="0" y="0"/>
            <a:chExt cx="9444749" cy="28559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44736" cy="2855976"/>
            </a:xfrm>
            <a:custGeom>
              <a:avLst/>
              <a:gdLst/>
              <a:ahLst/>
              <a:cxnLst/>
              <a:rect r="r" b="b" t="t" l="l"/>
              <a:pathLst>
                <a:path h="2855976" w="944473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8968740" y="0"/>
                  </a:lnTo>
                  <a:cubicBezTo>
                    <a:pt x="9231630" y="0"/>
                    <a:pt x="9444736" y="213106"/>
                    <a:pt x="9444736" y="475996"/>
                  </a:cubicBezTo>
                  <a:lnTo>
                    <a:pt x="9444736" y="2379980"/>
                  </a:lnTo>
                  <a:cubicBezTo>
                    <a:pt x="9444736" y="2642870"/>
                    <a:pt x="9231630" y="2855976"/>
                    <a:pt x="8968740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089147" y="4255284"/>
            <a:ext cx="109814" cy="2127647"/>
            <a:chOff x="0" y="0"/>
            <a:chExt cx="146418" cy="28368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523753" y="4548083"/>
            <a:ext cx="626867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Tabela usuario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23753" y="5234426"/>
            <a:ext cx="6268679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Usada para validar o login. O exemplo inclui o usuário Gabi.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81993" y="6650307"/>
            <a:ext cx="7083562" cy="1524238"/>
            <a:chOff x="0" y="0"/>
            <a:chExt cx="9444749" cy="20323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44736" cy="2032254"/>
            </a:xfrm>
            <a:custGeom>
              <a:avLst/>
              <a:gdLst/>
              <a:ahLst/>
              <a:cxnLst/>
              <a:rect r="r" b="b" t="t" l="l"/>
              <a:pathLst>
                <a:path h="2032254" w="9444736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9106027" y="0"/>
                  </a:lnTo>
                  <a:cubicBezTo>
                    <a:pt x="9293098" y="0"/>
                    <a:pt x="9444736" y="151638"/>
                    <a:pt x="9444736" y="338709"/>
                  </a:cubicBezTo>
                  <a:lnTo>
                    <a:pt x="9444736" y="1693545"/>
                  </a:lnTo>
                  <a:cubicBezTo>
                    <a:pt x="9444736" y="1880616"/>
                    <a:pt x="9293098" y="2032254"/>
                    <a:pt x="9106027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089147" y="6657461"/>
            <a:ext cx="109814" cy="1509941"/>
            <a:chOff x="0" y="0"/>
            <a:chExt cx="146418" cy="2013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013204"/>
            </a:xfrm>
            <a:custGeom>
              <a:avLst/>
              <a:gdLst/>
              <a:ahLst/>
              <a:cxnLst/>
              <a:rect r="r" b="b" t="t" l="l"/>
              <a:pathLst>
                <a:path h="2013204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523753" y="6950259"/>
            <a:ext cx="626867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Conexão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23753" y="7636593"/>
            <a:ext cx="626867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conexaoBD.php cria a conexão MySQLi com o banco pwii.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Importação de arquivos PHP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REQUIRE / INCLUDE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719" y="1708690"/>
            <a:ext cx="3926415" cy="2759640"/>
            <a:chOff x="0" y="0"/>
            <a:chExt cx="5235219" cy="367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5194" cy="3679571"/>
            </a:xfrm>
            <a:custGeom>
              <a:avLst/>
              <a:gdLst/>
              <a:ahLst/>
              <a:cxnLst/>
              <a:rect r="r" b="b" t="t" l="l"/>
              <a:pathLst>
                <a:path h="3679571" w="523519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4621911" y="0"/>
                  </a:lnTo>
                  <a:cubicBezTo>
                    <a:pt x="4960620" y="0"/>
                    <a:pt x="5235194" y="274574"/>
                    <a:pt x="5235194" y="613283"/>
                  </a:cubicBezTo>
                  <a:lnTo>
                    <a:pt x="5235194" y="3066288"/>
                  </a:lnTo>
                  <a:cubicBezTo>
                    <a:pt x="5235194" y="3404997"/>
                    <a:pt x="4960620" y="3679571"/>
                    <a:pt x="462191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872" y="1715843"/>
            <a:ext cx="109814" cy="2745343"/>
            <a:chOff x="0" y="0"/>
            <a:chExt cx="146418" cy="36604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95479" y="2008642"/>
            <a:ext cx="311153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require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5479" y="2694975"/>
            <a:ext cx="3111532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Importa outro arquivo. Em caso de falha, gera erro fatal.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40376" y="1708690"/>
            <a:ext cx="3926415" cy="2759640"/>
            <a:chOff x="0" y="0"/>
            <a:chExt cx="5235219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35194" cy="3679571"/>
            </a:xfrm>
            <a:custGeom>
              <a:avLst/>
              <a:gdLst/>
              <a:ahLst/>
              <a:cxnLst/>
              <a:rect r="r" b="b" t="t" l="l"/>
              <a:pathLst>
                <a:path h="3679571" w="523519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4621911" y="0"/>
                  </a:lnTo>
                  <a:cubicBezTo>
                    <a:pt x="4960620" y="0"/>
                    <a:pt x="5235194" y="274574"/>
                    <a:pt x="5235194" y="613283"/>
                  </a:cubicBezTo>
                  <a:lnTo>
                    <a:pt x="5235194" y="3066288"/>
                  </a:lnTo>
                  <a:cubicBezTo>
                    <a:pt x="5235194" y="3404997"/>
                    <a:pt x="4960620" y="3679571"/>
                    <a:pt x="462191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147520" y="1715843"/>
            <a:ext cx="109814" cy="2745343"/>
            <a:chOff x="0" y="0"/>
            <a:chExt cx="146418" cy="36604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582126" y="2008642"/>
            <a:ext cx="311153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require_once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82126" y="2694975"/>
            <a:ext cx="3111532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Importa apenas uma vez. É o comando mais usado nos exemplos.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7023" y="1708690"/>
            <a:ext cx="3926415" cy="2759640"/>
            <a:chOff x="0" y="0"/>
            <a:chExt cx="5235219" cy="3679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5194" cy="3679571"/>
            </a:xfrm>
            <a:custGeom>
              <a:avLst/>
              <a:gdLst/>
              <a:ahLst/>
              <a:cxnLst/>
              <a:rect r="r" b="b" t="t" l="l"/>
              <a:pathLst>
                <a:path h="3679571" w="523519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4621911" y="0"/>
                  </a:lnTo>
                  <a:cubicBezTo>
                    <a:pt x="4960620" y="0"/>
                    <a:pt x="5235194" y="274574"/>
                    <a:pt x="5235194" y="613283"/>
                  </a:cubicBezTo>
                  <a:lnTo>
                    <a:pt x="5235194" y="3066288"/>
                  </a:lnTo>
                  <a:cubicBezTo>
                    <a:pt x="5235194" y="3404997"/>
                    <a:pt x="4960620" y="3679571"/>
                    <a:pt x="462191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334176" y="1715843"/>
            <a:ext cx="109814" cy="2745343"/>
            <a:chOff x="0" y="0"/>
            <a:chExt cx="146418" cy="36604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768783" y="2008642"/>
            <a:ext cx="311153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include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68783" y="2694975"/>
            <a:ext cx="3111532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Também inclui um arquivo, mas uma falha normalmente gera aviso e permite continuidade.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513670" y="1708690"/>
            <a:ext cx="3926415" cy="2759640"/>
            <a:chOff x="0" y="0"/>
            <a:chExt cx="5235219" cy="3679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35194" cy="3679571"/>
            </a:xfrm>
            <a:custGeom>
              <a:avLst/>
              <a:gdLst/>
              <a:ahLst/>
              <a:cxnLst/>
              <a:rect r="r" b="b" t="t" l="l"/>
              <a:pathLst>
                <a:path h="3679571" w="523519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4621911" y="0"/>
                  </a:lnTo>
                  <a:cubicBezTo>
                    <a:pt x="4960620" y="0"/>
                    <a:pt x="5235194" y="274574"/>
                    <a:pt x="5235194" y="613283"/>
                  </a:cubicBezTo>
                  <a:lnTo>
                    <a:pt x="5235194" y="3066288"/>
                  </a:lnTo>
                  <a:cubicBezTo>
                    <a:pt x="5235194" y="3404997"/>
                    <a:pt x="4960620" y="3679571"/>
                    <a:pt x="462191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520823" y="1715843"/>
            <a:ext cx="109814" cy="2745343"/>
            <a:chOff x="0" y="0"/>
            <a:chExt cx="146418" cy="36604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5A667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955430" y="2008642"/>
            <a:ext cx="311153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5A6670"/>
                </a:solidFill>
                <a:latin typeface="Aptos Bold"/>
                <a:ea typeface="Aptos Bold"/>
                <a:cs typeface="Aptos Bold"/>
                <a:sym typeface="Aptos Bold"/>
              </a:rPr>
              <a:t>include_once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55430" y="2694975"/>
            <a:ext cx="3111532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Versão do include que evita inclusão repetida do mesmo arquivo.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78569" y="5490686"/>
            <a:ext cx="7275166" cy="2264912"/>
            <a:chOff x="0" y="0"/>
            <a:chExt cx="9700222" cy="30198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00133" cy="3019806"/>
            </a:xfrm>
            <a:custGeom>
              <a:avLst/>
              <a:gdLst/>
              <a:ahLst/>
              <a:cxnLst/>
              <a:rect r="r" b="b" t="t" l="l"/>
              <a:pathLst>
                <a:path h="3019806" w="9700133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9196832" y="0"/>
                  </a:lnTo>
                  <a:cubicBezTo>
                    <a:pt x="9474835" y="0"/>
                    <a:pt x="9700133" y="225298"/>
                    <a:pt x="9700133" y="503301"/>
                  </a:cubicBezTo>
                  <a:lnTo>
                    <a:pt x="9700133" y="2516505"/>
                  </a:lnTo>
                  <a:cubicBezTo>
                    <a:pt x="9700133" y="2794508"/>
                    <a:pt x="9474835" y="3019806"/>
                    <a:pt x="9196832" y="3019806"/>
                  </a:cubicBezTo>
                  <a:lnTo>
                    <a:pt x="503301" y="3019806"/>
                  </a:lnTo>
                  <a:cubicBezTo>
                    <a:pt x="225298" y="3019933"/>
                    <a:pt x="0" y="2794508"/>
                    <a:pt x="0" y="2516505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917097" y="5643982"/>
            <a:ext cx="6598120" cy="190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require_once 'verificarAcesso.php';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require_once 'cabecalho.php';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require_once 'conexaoBD.php';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25616" y="5536406"/>
            <a:ext cx="6955012" cy="237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No projeto enviado, predomina require_once.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A ideia da Agenda é organizar código e reaproveitar arquivos comuns.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Fluxo do login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AUTENTICAÇÃO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0984" y="4110866"/>
            <a:ext cx="2965542" cy="1386973"/>
            <a:chOff x="0" y="0"/>
            <a:chExt cx="3954056" cy="1849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26842" y="4465730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1. index.php</a:t>
            </a:r>
          </a:p>
        </p:txBody>
      </p:sp>
      <p:sp>
        <p:nvSpPr>
          <p:cNvPr name="AutoShape 11" id="11"/>
          <p:cNvSpPr/>
          <p:nvPr/>
        </p:nvSpPr>
        <p:spPr>
          <a:xfrm rot="152040">
            <a:off x="4029894" y="4794828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865837" y="4110866"/>
            <a:ext cx="2965542" cy="1386973"/>
            <a:chOff x="0" y="0"/>
            <a:chExt cx="3954056" cy="1849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01695" y="4465730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2. loginAction.php</a:t>
            </a:r>
          </a:p>
        </p:txBody>
      </p:sp>
      <p:sp>
        <p:nvSpPr>
          <p:cNvPr name="AutoShape 15" id="15"/>
          <p:cNvSpPr/>
          <p:nvPr/>
        </p:nvSpPr>
        <p:spPr>
          <a:xfrm rot="152040">
            <a:off x="7804747" y="4794828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640689" y="4110866"/>
            <a:ext cx="2965542" cy="1386973"/>
            <a:chOff x="0" y="0"/>
            <a:chExt cx="3954056" cy="1849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876538" y="4465730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3. Banco MySQL</a:t>
            </a:r>
          </a:p>
        </p:txBody>
      </p:sp>
      <p:sp>
        <p:nvSpPr>
          <p:cNvPr name="AutoShape 19" id="19"/>
          <p:cNvSpPr/>
          <p:nvPr/>
        </p:nvSpPr>
        <p:spPr>
          <a:xfrm rot="152040">
            <a:off x="11579590" y="4794828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415533" y="4110866"/>
            <a:ext cx="2965542" cy="1386973"/>
            <a:chOff x="0" y="0"/>
            <a:chExt cx="3954056" cy="18492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651391" y="4465730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4. $_SESSION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214" y="6154112"/>
            <a:ext cx="15877384" cy="251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index.php apresenta o formulário de usuário e senha.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loginAction.php recebe os dados via POST e consulta a tabela usuario.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Se os dados forem válidos, o nome é armazenado em $_SESSION['logado'].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Depois disso, o usuário pode acessar principal.php e as páginas protegidas.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Sessions: o ponto principal da Agenda 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$_SESSION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8137" y="1853108"/>
            <a:ext cx="7686961" cy="2745343"/>
            <a:chOff x="0" y="0"/>
            <a:chExt cx="10249281" cy="36604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928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249281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639173" y="0"/>
                  </a:lnTo>
                  <a:cubicBezTo>
                    <a:pt x="9976104" y="0"/>
                    <a:pt x="10249281" y="273177"/>
                    <a:pt x="10249281" y="610108"/>
                  </a:cubicBezTo>
                  <a:lnTo>
                    <a:pt x="10249281" y="3050413"/>
                  </a:lnTo>
                  <a:cubicBezTo>
                    <a:pt x="10249281" y="3387344"/>
                    <a:pt x="9976104" y="3660521"/>
                    <a:pt x="9639173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6656" y="2015928"/>
            <a:ext cx="7009924" cy="237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session_start();</a:t>
            </a:r>
          </a:p>
          <a:p>
            <a:pPr algn="l">
              <a:lnSpc>
                <a:spcPts val="288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($linha['senha'] == $senha) {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$_SESSION['logado'] = $nome;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58386" y="1845955"/>
            <a:ext cx="7769895" cy="2759640"/>
            <a:chOff x="0" y="0"/>
            <a:chExt cx="10359860" cy="3679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59898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35989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9746615" y="0"/>
                  </a:lnTo>
                  <a:cubicBezTo>
                    <a:pt x="10085324" y="0"/>
                    <a:pt x="10359898" y="274574"/>
                    <a:pt x="10359898" y="613283"/>
                  </a:cubicBezTo>
                  <a:lnTo>
                    <a:pt x="10359898" y="3066288"/>
                  </a:lnTo>
                  <a:cubicBezTo>
                    <a:pt x="10359898" y="3404997"/>
                    <a:pt x="10085324" y="3679571"/>
                    <a:pt x="974661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265539" y="1853108"/>
            <a:ext cx="109814" cy="2745343"/>
            <a:chOff x="0" y="0"/>
            <a:chExt cx="146418" cy="36604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00146" y="2145906"/>
            <a:ext cx="695501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O que a sessão faz?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00146" y="2832249"/>
            <a:ext cx="6955012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Mantém no servidor uma informação associada ao usuário durante a navegação. Neste exemplo, a variável 'logado' representa que o login foi realizado.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8137" y="5284784"/>
            <a:ext cx="7686961" cy="2745343"/>
            <a:chOff x="0" y="0"/>
            <a:chExt cx="10249281" cy="36604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928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249281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639173" y="0"/>
                  </a:lnTo>
                  <a:cubicBezTo>
                    <a:pt x="9976104" y="0"/>
                    <a:pt x="10249281" y="273177"/>
                    <a:pt x="10249281" y="610108"/>
                  </a:cubicBezTo>
                  <a:lnTo>
                    <a:pt x="10249281" y="3050413"/>
                  </a:lnTo>
                  <a:cubicBezTo>
                    <a:pt x="10249281" y="3387344"/>
                    <a:pt x="9976104" y="3660521"/>
                    <a:pt x="9639173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36656" y="5438080"/>
            <a:ext cx="7009924" cy="238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(!isset($_SESSION['logado'])) {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header('location:acessoNegado.php');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die();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58386" y="5277641"/>
            <a:ext cx="7769895" cy="2759640"/>
            <a:chOff x="0" y="0"/>
            <a:chExt cx="10359860" cy="3679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59898" cy="3679571"/>
            </a:xfrm>
            <a:custGeom>
              <a:avLst/>
              <a:gdLst/>
              <a:ahLst/>
              <a:cxnLst/>
              <a:rect r="r" b="b" t="t" l="l"/>
              <a:pathLst>
                <a:path h="3679571" w="1035989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9746615" y="0"/>
                  </a:lnTo>
                  <a:cubicBezTo>
                    <a:pt x="10085324" y="0"/>
                    <a:pt x="10359898" y="274574"/>
                    <a:pt x="10359898" y="613283"/>
                  </a:cubicBezTo>
                  <a:lnTo>
                    <a:pt x="10359898" y="3066288"/>
                  </a:lnTo>
                  <a:cubicBezTo>
                    <a:pt x="10359898" y="3404997"/>
                    <a:pt x="10085324" y="3679571"/>
                    <a:pt x="974661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265539" y="5284784"/>
            <a:ext cx="109814" cy="2745343"/>
            <a:chOff x="0" y="0"/>
            <a:chExt cx="146418" cy="36604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700146" y="5577592"/>
            <a:ext cx="695501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Proteção das páginas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00146" y="6263926"/>
            <a:ext cx="6955012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verificarAcesso.php é reutilizado pelas páginas protegidas. Se não houver sessão válida, o acesso é negado.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Controle de acesso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VERIFICARACESSO.PHP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35402" y="1990373"/>
            <a:ext cx="8373304" cy="4118019"/>
            <a:chOff x="0" y="0"/>
            <a:chExt cx="11164405" cy="54906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4443" cy="5490718"/>
            </a:xfrm>
            <a:custGeom>
              <a:avLst/>
              <a:gdLst/>
              <a:ahLst/>
              <a:cxnLst/>
              <a:rect r="r" b="b" t="t" l="l"/>
              <a:pathLst>
                <a:path h="5490718" w="11164443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lnTo>
                    <a:pt x="10249281" y="0"/>
                  </a:lnTo>
                  <a:cubicBezTo>
                    <a:pt x="10754741" y="0"/>
                    <a:pt x="11164443" y="409702"/>
                    <a:pt x="11164443" y="915162"/>
                  </a:cubicBezTo>
                  <a:lnTo>
                    <a:pt x="11164443" y="4575556"/>
                  </a:lnTo>
                  <a:cubicBezTo>
                    <a:pt x="11164443" y="5081016"/>
                    <a:pt x="10754741" y="5490718"/>
                    <a:pt x="10249281" y="5490718"/>
                  </a:cubicBezTo>
                  <a:lnTo>
                    <a:pt x="915162" y="5490718"/>
                  </a:lnTo>
                  <a:cubicBezTo>
                    <a:pt x="409702" y="5490718"/>
                    <a:pt x="0" y="5081016"/>
                    <a:pt x="0" y="4575556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73930" y="2153193"/>
            <a:ext cx="7696257" cy="374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(!isset($_SESSION)) {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session_start();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((!isset($_SESSION['logado']) == true)) {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header('location:acessoNegado.php');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die();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9214" y="2036093"/>
            <a:ext cx="6543218" cy="471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Primeiro verifica se a sessão já foi iniciada.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Se necessário, executa session_start().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Confere se a variável logado existe.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Sem autenticação, redireciona para acessoNegado.php e interrompe a execução.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02788" y="6856209"/>
            <a:ext cx="15250963" cy="1455601"/>
            <a:chOff x="0" y="0"/>
            <a:chExt cx="20334618" cy="1940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4605" cy="1940814"/>
            </a:xfrm>
            <a:custGeom>
              <a:avLst/>
              <a:gdLst/>
              <a:ahLst/>
              <a:cxnLst/>
              <a:rect r="r" b="b" t="t" l="l"/>
              <a:pathLst>
                <a:path h="1940814" w="20334605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0011137" y="0"/>
                  </a:lnTo>
                  <a:cubicBezTo>
                    <a:pt x="20189825" y="0"/>
                    <a:pt x="20334605" y="144780"/>
                    <a:pt x="20334605" y="323469"/>
                  </a:cubicBezTo>
                  <a:lnTo>
                    <a:pt x="20334605" y="1617345"/>
                  </a:lnTo>
                  <a:cubicBezTo>
                    <a:pt x="20334605" y="1796034"/>
                    <a:pt x="20189825" y="1940814"/>
                    <a:pt x="20011137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09941" y="6863363"/>
            <a:ext cx="109814" cy="1441304"/>
            <a:chOff x="0" y="0"/>
            <a:chExt cx="146418" cy="19217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44548" y="7156161"/>
            <a:ext cx="1443608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Resultado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4548" y="7842494"/>
            <a:ext cx="14436080" cy="22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O login não serve apenas para entrar: ele controla quais páginas do CRUD podem ser acessadas.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CRUD de amigos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FUNCIONAMENTO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1983229"/>
            <a:ext cx="3857777" cy="4955915"/>
            <a:chOff x="0" y="0"/>
            <a:chExt cx="5143703" cy="66078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43627" cy="6607810"/>
            </a:xfrm>
            <a:custGeom>
              <a:avLst/>
              <a:gdLst/>
              <a:ahLst/>
              <a:cxnLst/>
              <a:rect r="r" b="b" t="t" l="l"/>
              <a:pathLst>
                <a:path h="6607810" w="5143627">
                  <a:moveTo>
                    <a:pt x="0" y="857250"/>
                  </a:moveTo>
                  <a:cubicBezTo>
                    <a:pt x="0" y="383794"/>
                    <a:pt x="383794" y="0"/>
                    <a:pt x="857250" y="0"/>
                  </a:cubicBezTo>
                  <a:lnTo>
                    <a:pt x="4286377" y="0"/>
                  </a:lnTo>
                  <a:cubicBezTo>
                    <a:pt x="4759833" y="0"/>
                    <a:pt x="5143627" y="383794"/>
                    <a:pt x="5143627" y="857250"/>
                  </a:cubicBezTo>
                  <a:lnTo>
                    <a:pt x="5143627" y="5750560"/>
                  </a:lnTo>
                  <a:cubicBezTo>
                    <a:pt x="5143627" y="6224016"/>
                    <a:pt x="4759833" y="6607810"/>
                    <a:pt x="4286377" y="6607810"/>
                  </a:cubicBezTo>
                  <a:lnTo>
                    <a:pt x="857250" y="6607810"/>
                  </a:lnTo>
                  <a:cubicBezTo>
                    <a:pt x="383794" y="6607937"/>
                    <a:pt x="0" y="6224016"/>
                    <a:pt x="0" y="575056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500" y="1990373"/>
            <a:ext cx="109814" cy="4941618"/>
            <a:chOff x="0" y="0"/>
            <a:chExt cx="146418" cy="65888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64116" y="2283181"/>
            <a:ext cx="3042895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CREATE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4116" y="2969514"/>
            <a:ext cx="3042895" cy="372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cadastro.php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Formulário com nome, apelido e e-mail.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cadastroAction.php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INSERT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09003" y="1983229"/>
            <a:ext cx="3857777" cy="4955915"/>
            <a:chOff x="0" y="0"/>
            <a:chExt cx="5143703" cy="66078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3627" cy="6607810"/>
            </a:xfrm>
            <a:custGeom>
              <a:avLst/>
              <a:gdLst/>
              <a:ahLst/>
              <a:cxnLst/>
              <a:rect r="r" b="b" t="t" l="l"/>
              <a:pathLst>
                <a:path h="6607810" w="5143627">
                  <a:moveTo>
                    <a:pt x="0" y="857250"/>
                  </a:moveTo>
                  <a:cubicBezTo>
                    <a:pt x="0" y="383794"/>
                    <a:pt x="383794" y="0"/>
                    <a:pt x="857250" y="0"/>
                  </a:cubicBezTo>
                  <a:lnTo>
                    <a:pt x="4286377" y="0"/>
                  </a:lnTo>
                  <a:cubicBezTo>
                    <a:pt x="4759833" y="0"/>
                    <a:pt x="5143627" y="383794"/>
                    <a:pt x="5143627" y="857250"/>
                  </a:cubicBezTo>
                  <a:lnTo>
                    <a:pt x="5143627" y="5750560"/>
                  </a:lnTo>
                  <a:cubicBezTo>
                    <a:pt x="5143627" y="6224016"/>
                    <a:pt x="4759833" y="6607810"/>
                    <a:pt x="4286377" y="6607810"/>
                  </a:cubicBezTo>
                  <a:lnTo>
                    <a:pt x="857250" y="6607810"/>
                  </a:lnTo>
                  <a:cubicBezTo>
                    <a:pt x="383794" y="6607937"/>
                    <a:pt x="0" y="6224016"/>
                    <a:pt x="0" y="575056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216157" y="1990373"/>
            <a:ext cx="109814" cy="4941618"/>
            <a:chOff x="0" y="0"/>
            <a:chExt cx="146418" cy="65888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650763" y="2283181"/>
            <a:ext cx="3042895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READ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50763" y="2969514"/>
            <a:ext cx="3042895" cy="372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listar.php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Consulta os registros.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SELECT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Exibe tabela de amigos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95660" y="1983229"/>
            <a:ext cx="3857777" cy="4955915"/>
            <a:chOff x="0" y="0"/>
            <a:chExt cx="5143703" cy="66078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3627" cy="6607810"/>
            </a:xfrm>
            <a:custGeom>
              <a:avLst/>
              <a:gdLst/>
              <a:ahLst/>
              <a:cxnLst/>
              <a:rect r="r" b="b" t="t" l="l"/>
              <a:pathLst>
                <a:path h="6607810" w="5143627">
                  <a:moveTo>
                    <a:pt x="0" y="857250"/>
                  </a:moveTo>
                  <a:cubicBezTo>
                    <a:pt x="0" y="383794"/>
                    <a:pt x="383794" y="0"/>
                    <a:pt x="857250" y="0"/>
                  </a:cubicBezTo>
                  <a:lnTo>
                    <a:pt x="4286377" y="0"/>
                  </a:lnTo>
                  <a:cubicBezTo>
                    <a:pt x="4759833" y="0"/>
                    <a:pt x="5143627" y="383794"/>
                    <a:pt x="5143627" y="857250"/>
                  </a:cubicBezTo>
                  <a:lnTo>
                    <a:pt x="5143627" y="5750560"/>
                  </a:lnTo>
                  <a:cubicBezTo>
                    <a:pt x="5143627" y="6224016"/>
                    <a:pt x="4759833" y="6607810"/>
                    <a:pt x="4286377" y="6607810"/>
                  </a:cubicBezTo>
                  <a:lnTo>
                    <a:pt x="857250" y="6607810"/>
                  </a:lnTo>
                  <a:cubicBezTo>
                    <a:pt x="383794" y="6607937"/>
                    <a:pt x="0" y="6224016"/>
                    <a:pt x="0" y="575056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402804" y="1990373"/>
            <a:ext cx="109814" cy="4941618"/>
            <a:chOff x="0" y="0"/>
            <a:chExt cx="146418" cy="65888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37410" y="2283181"/>
            <a:ext cx="3042895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UPDATE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37410" y="2969514"/>
            <a:ext cx="3042895" cy="372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atualizar.php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Edita os dados selecionados.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atualizarAction.php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UPDATE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582307" y="1983229"/>
            <a:ext cx="3857777" cy="4955915"/>
            <a:chOff x="0" y="0"/>
            <a:chExt cx="5143703" cy="66078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43627" cy="6607810"/>
            </a:xfrm>
            <a:custGeom>
              <a:avLst/>
              <a:gdLst/>
              <a:ahLst/>
              <a:cxnLst/>
              <a:rect r="r" b="b" t="t" l="l"/>
              <a:pathLst>
                <a:path h="6607810" w="5143627">
                  <a:moveTo>
                    <a:pt x="0" y="857250"/>
                  </a:moveTo>
                  <a:cubicBezTo>
                    <a:pt x="0" y="383794"/>
                    <a:pt x="383794" y="0"/>
                    <a:pt x="857250" y="0"/>
                  </a:cubicBezTo>
                  <a:lnTo>
                    <a:pt x="4286377" y="0"/>
                  </a:lnTo>
                  <a:cubicBezTo>
                    <a:pt x="4759833" y="0"/>
                    <a:pt x="5143627" y="383794"/>
                    <a:pt x="5143627" y="857250"/>
                  </a:cubicBezTo>
                  <a:lnTo>
                    <a:pt x="5143627" y="5750560"/>
                  </a:lnTo>
                  <a:cubicBezTo>
                    <a:pt x="5143627" y="6224016"/>
                    <a:pt x="4759833" y="6607810"/>
                    <a:pt x="4286377" y="6607810"/>
                  </a:cubicBezTo>
                  <a:lnTo>
                    <a:pt x="857250" y="6607810"/>
                  </a:lnTo>
                  <a:cubicBezTo>
                    <a:pt x="383794" y="6607937"/>
                    <a:pt x="0" y="6224016"/>
                    <a:pt x="0" y="575056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589460" y="1990373"/>
            <a:ext cx="109814" cy="4941618"/>
            <a:chOff x="0" y="0"/>
            <a:chExt cx="146418" cy="65888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C62828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024067" y="2283181"/>
            <a:ext cx="3042895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C62828"/>
                </a:solidFill>
                <a:latin typeface="Aptos Bold"/>
                <a:ea typeface="Aptos Bold"/>
                <a:cs typeface="Aptos Bold"/>
                <a:sym typeface="Aptos Bold"/>
              </a:rPr>
              <a:t>DELETE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24067" y="2969514"/>
            <a:ext cx="3042895" cy="372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excluir.php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Confirma a exclusão.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excluirAction.php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→ DELETE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CREATE — cadastrar amigo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INSERT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500" y="1578569"/>
            <a:ext cx="9814608" cy="6794725"/>
            <a:chOff x="0" y="0"/>
            <a:chExt cx="13086144" cy="9059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86207" cy="9059673"/>
            </a:xfrm>
            <a:custGeom>
              <a:avLst/>
              <a:gdLst/>
              <a:ahLst/>
              <a:cxnLst/>
              <a:rect r="r" b="b" t="t" l="l"/>
              <a:pathLst>
                <a:path h="9059673" w="13086207">
                  <a:moveTo>
                    <a:pt x="0" y="1510030"/>
                  </a:moveTo>
                  <a:cubicBezTo>
                    <a:pt x="0" y="676021"/>
                    <a:pt x="676021" y="0"/>
                    <a:pt x="1510030" y="0"/>
                  </a:cubicBezTo>
                  <a:lnTo>
                    <a:pt x="11576177" y="0"/>
                  </a:lnTo>
                  <a:cubicBezTo>
                    <a:pt x="12410060" y="0"/>
                    <a:pt x="13086207" y="676021"/>
                    <a:pt x="13086207" y="1510030"/>
                  </a:cubicBezTo>
                  <a:lnTo>
                    <a:pt x="13086207" y="7549642"/>
                  </a:lnTo>
                  <a:cubicBezTo>
                    <a:pt x="13086207" y="8383525"/>
                    <a:pt x="12410186" y="9059673"/>
                    <a:pt x="11576177" y="9059673"/>
                  </a:cubicBezTo>
                  <a:lnTo>
                    <a:pt x="1510030" y="9059673"/>
                  </a:lnTo>
                  <a:cubicBezTo>
                    <a:pt x="676021" y="9059672"/>
                    <a:pt x="0" y="8383651"/>
                    <a:pt x="0" y="7549642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8028" y="1760439"/>
            <a:ext cx="9137561" cy="64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require_once 'verificarAcesso.php';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require_once 'cabecalho.php';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require_once 'conexaoBD.php';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$sql = "INSERT INTO amigo (nome, apelido, email)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VALUES ('" . $_POST['txtNome'] . "',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        '" . $_POST['txtApelido'] . "',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        '" . $_POST['txtEmail'] . "')";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($conexao-&gt;query($sql) === TRUE) {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echo 'Amigo Salvo com sucesso!';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15989" y="2036093"/>
            <a:ext cx="5788247" cy="594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cadastro.php mostra o formulário.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Os dados são enviados pelo método POST.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cadastroAction.php monta o comando INSERT.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O resultado é informado ao usuário.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Depois, a conexão com o banco é encerrada.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READ — listar amigos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SELECT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500" y="1578569"/>
            <a:ext cx="9608706" cy="6863363"/>
            <a:chOff x="0" y="0"/>
            <a:chExt cx="12811608" cy="9151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1760" cy="9151238"/>
            </a:xfrm>
            <a:custGeom>
              <a:avLst/>
              <a:gdLst/>
              <a:ahLst/>
              <a:cxnLst/>
              <a:rect r="r" b="b" t="t" l="l"/>
              <a:pathLst>
                <a:path h="9151238" w="12811760">
                  <a:moveTo>
                    <a:pt x="0" y="1525270"/>
                  </a:moveTo>
                  <a:cubicBezTo>
                    <a:pt x="0" y="682879"/>
                    <a:pt x="682879" y="0"/>
                    <a:pt x="1525270" y="0"/>
                  </a:cubicBezTo>
                  <a:lnTo>
                    <a:pt x="11286489" y="0"/>
                  </a:lnTo>
                  <a:cubicBezTo>
                    <a:pt x="12128881" y="0"/>
                    <a:pt x="12811760" y="682879"/>
                    <a:pt x="12811760" y="1525270"/>
                  </a:cubicBezTo>
                  <a:lnTo>
                    <a:pt x="12811760" y="7625969"/>
                  </a:lnTo>
                  <a:cubicBezTo>
                    <a:pt x="12811760" y="8468360"/>
                    <a:pt x="12128881" y="9151238"/>
                    <a:pt x="11286489" y="9151238"/>
                  </a:cubicBezTo>
                  <a:lnTo>
                    <a:pt x="1525270" y="9151238"/>
                  </a:lnTo>
                  <a:cubicBezTo>
                    <a:pt x="682879" y="9151112"/>
                    <a:pt x="0" y="8468233"/>
                    <a:pt x="0" y="7625969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8028" y="1760439"/>
            <a:ext cx="8931669" cy="647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$sql = "SELECT * FROM amigo";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$resultado = $conexao-&gt;query($sql);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($resultado != null)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foreach ($resultado as $linha) {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echo '&lt;tr&gt;';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echo '&lt;td&gt;' . $linha['idamigo'] . '&lt;/td&gt;';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echo '&lt;td&gt;' . $linha['nome'] . '&lt;/td&gt;';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echo '&lt;td&gt;' . $linha['apelido'] . '&lt;/td&gt;';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echo '&lt;td&gt;' . $linha['email'] . '&lt;/td&gt;';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echo '&lt;/tr&gt;';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042866" y="1845955"/>
            <a:ext cx="6259954" cy="2141944"/>
            <a:chOff x="0" y="0"/>
            <a:chExt cx="8346605" cy="28559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46567" cy="2855976"/>
            </a:xfrm>
            <a:custGeom>
              <a:avLst/>
              <a:gdLst/>
              <a:ahLst/>
              <a:cxnLst/>
              <a:rect r="r" b="b" t="t" l="l"/>
              <a:pathLst>
                <a:path h="2855976" w="834656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7870571" y="0"/>
                  </a:lnTo>
                  <a:cubicBezTo>
                    <a:pt x="8133461" y="0"/>
                    <a:pt x="8346567" y="213106"/>
                    <a:pt x="8346567" y="475996"/>
                  </a:cubicBezTo>
                  <a:lnTo>
                    <a:pt x="8346567" y="2379980"/>
                  </a:lnTo>
                  <a:cubicBezTo>
                    <a:pt x="8346567" y="2642870"/>
                    <a:pt x="8133461" y="2855976"/>
                    <a:pt x="787057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050010" y="1853108"/>
            <a:ext cx="109814" cy="2127647"/>
            <a:chOff x="0" y="0"/>
            <a:chExt cx="146418" cy="2836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484616" y="2145906"/>
            <a:ext cx="54450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Consulta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84616" y="2832249"/>
            <a:ext cx="54450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SELECT * FROM amigo recupera os registros da tabela.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042866" y="4316768"/>
            <a:ext cx="6259954" cy="2141944"/>
            <a:chOff x="0" y="0"/>
            <a:chExt cx="8346605" cy="28559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46567" cy="2855976"/>
            </a:xfrm>
            <a:custGeom>
              <a:avLst/>
              <a:gdLst/>
              <a:ahLst/>
              <a:cxnLst/>
              <a:rect r="r" b="b" t="t" l="l"/>
              <a:pathLst>
                <a:path h="2855976" w="834656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7870571" y="0"/>
                  </a:lnTo>
                  <a:cubicBezTo>
                    <a:pt x="8133461" y="0"/>
                    <a:pt x="8346567" y="213106"/>
                    <a:pt x="8346567" y="475996"/>
                  </a:cubicBezTo>
                  <a:lnTo>
                    <a:pt x="8346567" y="2379980"/>
                  </a:lnTo>
                  <a:cubicBezTo>
                    <a:pt x="8346567" y="2642870"/>
                    <a:pt x="8133461" y="2855976"/>
                    <a:pt x="787057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050010" y="4323921"/>
            <a:ext cx="109814" cy="2127647"/>
            <a:chOff x="0" y="0"/>
            <a:chExt cx="146418" cy="28368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484616" y="4616720"/>
            <a:ext cx="54450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Laço foreach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84616" y="5303053"/>
            <a:ext cx="54450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Percorre cada registro retornado e monta as linhas da tabela HTML.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042866" y="6787582"/>
            <a:ext cx="6259954" cy="1455601"/>
            <a:chOff x="0" y="0"/>
            <a:chExt cx="8346605" cy="19408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46567" cy="1940814"/>
            </a:xfrm>
            <a:custGeom>
              <a:avLst/>
              <a:gdLst/>
              <a:ahLst/>
              <a:cxnLst/>
              <a:rect r="r" b="b" t="t" l="l"/>
              <a:pathLst>
                <a:path h="1940814" w="8346567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8023098" y="0"/>
                  </a:lnTo>
                  <a:cubicBezTo>
                    <a:pt x="8201787" y="0"/>
                    <a:pt x="8346567" y="144780"/>
                    <a:pt x="8346567" y="323469"/>
                  </a:cubicBezTo>
                  <a:lnTo>
                    <a:pt x="8346567" y="1617345"/>
                  </a:lnTo>
                  <a:cubicBezTo>
                    <a:pt x="8346567" y="1796034"/>
                    <a:pt x="8201787" y="1940814"/>
                    <a:pt x="8023098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050010" y="6794725"/>
            <a:ext cx="109814" cy="1441304"/>
            <a:chOff x="0" y="0"/>
            <a:chExt cx="146418" cy="1921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1921764"/>
            </a:xfrm>
            <a:custGeom>
              <a:avLst/>
              <a:gdLst/>
              <a:ahLst/>
              <a:cxnLst/>
              <a:rect r="r" b="b" t="t" l="l"/>
              <a:pathLst>
                <a:path h="1921764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484616" y="7087533"/>
            <a:ext cx="54450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Ações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84616" y="7773867"/>
            <a:ext cx="5445071" cy="22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Cada linha oferece opções de excluir e atualizar.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UPDATE — atualizar amigo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UPDATE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500" y="1647206"/>
            <a:ext cx="10020510" cy="6382931"/>
            <a:chOff x="0" y="0"/>
            <a:chExt cx="13360679" cy="85105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60654" cy="8510524"/>
            </a:xfrm>
            <a:custGeom>
              <a:avLst/>
              <a:gdLst/>
              <a:ahLst/>
              <a:cxnLst/>
              <a:rect r="r" b="b" t="t" l="l"/>
              <a:pathLst>
                <a:path h="8510524" w="13360654">
                  <a:moveTo>
                    <a:pt x="0" y="1418463"/>
                  </a:moveTo>
                  <a:cubicBezTo>
                    <a:pt x="0" y="635127"/>
                    <a:pt x="635127" y="0"/>
                    <a:pt x="1418463" y="0"/>
                  </a:cubicBezTo>
                  <a:lnTo>
                    <a:pt x="11942191" y="0"/>
                  </a:lnTo>
                  <a:cubicBezTo>
                    <a:pt x="12725527" y="0"/>
                    <a:pt x="13360654" y="635127"/>
                    <a:pt x="13360654" y="1418463"/>
                  </a:cubicBezTo>
                  <a:lnTo>
                    <a:pt x="13360654" y="7092061"/>
                  </a:lnTo>
                  <a:cubicBezTo>
                    <a:pt x="13360654" y="7875397"/>
                    <a:pt x="12725527" y="8510524"/>
                    <a:pt x="11942191" y="8510524"/>
                  </a:cubicBezTo>
                  <a:lnTo>
                    <a:pt x="1418463" y="8510524"/>
                  </a:lnTo>
                  <a:cubicBezTo>
                    <a:pt x="635127" y="8510524"/>
                    <a:pt x="0" y="7875524"/>
                    <a:pt x="0" y="7092061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8028" y="1819542"/>
            <a:ext cx="9343463" cy="60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$sql = "UPDATE amigo SET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nome = '" . $_POST['txtNome'] . "',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apelido = '" . $_POST['txtApelido'] . "',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email = '" . $_POST['txtEmail'] . "'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WHERE idamigo =" . $_POST['txtID'] . ";";</a:t>
            </a:r>
          </a:p>
          <a:p>
            <a:pPr algn="l">
              <a:lnSpc>
                <a:spcPts val="2161"/>
              </a:lnSpc>
            </a:pP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($conexao-&gt;query($sql) === TRUE) {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echo 'Amigo Atualizado com sucesso!';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53254" y="2173367"/>
            <a:ext cx="5445071" cy="512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listar.php envia o ID e os dados do amigo selecionado.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atualizar.php apresenta o formulário preenchido.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atualizarAction.php executa o UPDATE.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O WHERE idamigo identifica exatamente o registro a alterar.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DELETE — excluir amigo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DELETE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66774" y="1921745"/>
            <a:ext cx="8373304" cy="3843480"/>
            <a:chOff x="0" y="0"/>
            <a:chExt cx="11164405" cy="512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4316" cy="5124577"/>
            </a:xfrm>
            <a:custGeom>
              <a:avLst/>
              <a:gdLst/>
              <a:ahLst/>
              <a:cxnLst/>
              <a:rect r="r" b="b" t="t" l="l"/>
              <a:pathLst>
                <a:path h="5124577" w="11164316">
                  <a:moveTo>
                    <a:pt x="0" y="854075"/>
                  </a:moveTo>
                  <a:cubicBezTo>
                    <a:pt x="0" y="382397"/>
                    <a:pt x="382397" y="0"/>
                    <a:pt x="854075" y="0"/>
                  </a:cubicBezTo>
                  <a:lnTo>
                    <a:pt x="10310241" y="0"/>
                  </a:lnTo>
                  <a:cubicBezTo>
                    <a:pt x="10781919" y="0"/>
                    <a:pt x="11164316" y="382397"/>
                    <a:pt x="11164316" y="854075"/>
                  </a:cubicBezTo>
                  <a:lnTo>
                    <a:pt x="11164316" y="4270502"/>
                  </a:lnTo>
                  <a:cubicBezTo>
                    <a:pt x="11164316" y="4742180"/>
                    <a:pt x="10781919" y="5124577"/>
                    <a:pt x="10310241" y="5124577"/>
                  </a:cubicBezTo>
                  <a:lnTo>
                    <a:pt x="854075" y="5124577"/>
                  </a:lnTo>
                  <a:cubicBezTo>
                    <a:pt x="382397" y="5124704"/>
                    <a:pt x="0" y="4742180"/>
                    <a:pt x="0" y="4270502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05293" y="2075031"/>
            <a:ext cx="7696257" cy="347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$sql = "DELETE FROM amigo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    WHERE idamigo = '" . $_POST['txtID'] . "';";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if ($conexao-&gt;query($sql) === TRUE) {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echo 'Amigo Excluido com sucesso!';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0984" y="6238513"/>
            <a:ext cx="2965542" cy="1386973"/>
            <a:chOff x="0" y="0"/>
            <a:chExt cx="3954056" cy="1849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26842" y="6593367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listar.php</a:t>
            </a:r>
          </a:p>
        </p:txBody>
      </p:sp>
      <p:sp>
        <p:nvSpPr>
          <p:cNvPr name="AutoShape 14" id="14"/>
          <p:cNvSpPr/>
          <p:nvPr/>
        </p:nvSpPr>
        <p:spPr>
          <a:xfrm rot="152040">
            <a:off x="4029894" y="6922475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865837" y="6238513"/>
            <a:ext cx="2965542" cy="1386973"/>
            <a:chOff x="0" y="0"/>
            <a:chExt cx="3954056" cy="18492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101695" y="6593367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excluir.php</a:t>
            </a:r>
          </a:p>
        </p:txBody>
      </p:sp>
      <p:sp>
        <p:nvSpPr>
          <p:cNvPr name="AutoShape 18" id="18"/>
          <p:cNvSpPr/>
          <p:nvPr/>
        </p:nvSpPr>
        <p:spPr>
          <a:xfrm rot="152040">
            <a:off x="7804747" y="6922475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640689" y="6238513"/>
            <a:ext cx="2965542" cy="1386973"/>
            <a:chOff x="0" y="0"/>
            <a:chExt cx="3954056" cy="18492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876538" y="6593367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Confirmação</a:t>
            </a:r>
          </a:p>
        </p:txBody>
      </p:sp>
      <p:sp>
        <p:nvSpPr>
          <p:cNvPr name="AutoShape 22" id="22"/>
          <p:cNvSpPr/>
          <p:nvPr/>
        </p:nvSpPr>
        <p:spPr>
          <a:xfrm rot="152040">
            <a:off x="11579590" y="6922475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415533" y="6238513"/>
            <a:ext cx="2965542" cy="1386973"/>
            <a:chOff x="0" y="0"/>
            <a:chExt cx="3954056" cy="18492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651391" y="6593367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excluirAction.php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80587" y="2036093"/>
            <a:ext cx="6680483" cy="292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Antes da exclusão, o projeto mostra os dados e pede confirmação.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Depois, excluirAction.php executa o DELETE pelo ID.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Logout e acesso negado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SEGURANÇA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8137" y="1853108"/>
            <a:ext cx="7686961" cy="2127647"/>
            <a:chOff x="0" y="0"/>
            <a:chExt cx="10249281" cy="2836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928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249281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lnTo>
                    <a:pt x="9776460" y="0"/>
                  </a:lnTo>
                  <a:cubicBezTo>
                    <a:pt x="10037572" y="0"/>
                    <a:pt x="10249281" y="211709"/>
                    <a:pt x="10249281" y="472821"/>
                  </a:cubicBezTo>
                  <a:lnTo>
                    <a:pt x="10249281" y="2363978"/>
                  </a:lnTo>
                  <a:cubicBezTo>
                    <a:pt x="10249281" y="2625090"/>
                    <a:pt x="10037572" y="2836799"/>
                    <a:pt x="9776460" y="2836799"/>
                  </a:cubicBezTo>
                  <a:lnTo>
                    <a:pt x="472821" y="2836799"/>
                  </a:lnTo>
                  <a:cubicBezTo>
                    <a:pt x="211709" y="2836799"/>
                    <a:pt x="0" y="2625217"/>
                    <a:pt x="0" y="2363978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6656" y="2006403"/>
            <a:ext cx="7009924" cy="176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// logoutAction.php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unset($_SESSION['logado']);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header("location:index.php");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58386" y="1845955"/>
            <a:ext cx="7632630" cy="2141944"/>
            <a:chOff x="0" y="0"/>
            <a:chExt cx="10176840" cy="28559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768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101768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9700895" y="0"/>
                  </a:lnTo>
                  <a:cubicBezTo>
                    <a:pt x="9963785" y="0"/>
                    <a:pt x="10176890" y="213106"/>
                    <a:pt x="10176890" y="475996"/>
                  </a:cubicBezTo>
                  <a:lnTo>
                    <a:pt x="10176890" y="2379980"/>
                  </a:lnTo>
                  <a:cubicBezTo>
                    <a:pt x="10176890" y="2642870"/>
                    <a:pt x="9963785" y="2855976"/>
                    <a:pt x="97008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265539" y="1853108"/>
            <a:ext cx="109814" cy="2127647"/>
            <a:chOff x="0" y="0"/>
            <a:chExt cx="146418" cy="2836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6282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00146" y="2145906"/>
            <a:ext cx="681774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C62828"/>
                </a:solidFill>
                <a:latin typeface="Aptos Bold"/>
                <a:ea typeface="Aptos Bold"/>
                <a:cs typeface="Aptos Bold"/>
                <a:sym typeface="Aptos Bold"/>
              </a:rPr>
              <a:t>Logout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00146" y="2832249"/>
            <a:ext cx="6817747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 variável da sessão é removida e o usuário retorna à tela de login.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8137" y="4598451"/>
            <a:ext cx="7686961" cy="1853108"/>
            <a:chOff x="0" y="0"/>
            <a:chExt cx="10249281" cy="24708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9281" cy="2470912"/>
            </a:xfrm>
            <a:custGeom>
              <a:avLst/>
              <a:gdLst/>
              <a:ahLst/>
              <a:cxnLst/>
              <a:rect r="r" b="b" t="t" l="l"/>
              <a:pathLst>
                <a:path h="2470912" w="10249281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9837420" y="0"/>
                  </a:lnTo>
                  <a:cubicBezTo>
                    <a:pt x="10064876" y="0"/>
                    <a:pt x="10249281" y="184404"/>
                    <a:pt x="10249281" y="411861"/>
                  </a:cubicBezTo>
                  <a:lnTo>
                    <a:pt x="10249281" y="2059051"/>
                  </a:lnTo>
                  <a:cubicBezTo>
                    <a:pt x="10249281" y="2286508"/>
                    <a:pt x="10064876" y="2470912"/>
                    <a:pt x="9837420" y="2470912"/>
                  </a:cubicBezTo>
                  <a:lnTo>
                    <a:pt x="411861" y="2470912"/>
                  </a:lnTo>
                  <a:cubicBezTo>
                    <a:pt x="184404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36656" y="4751746"/>
            <a:ext cx="7009924" cy="148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// acessoNegado.php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echo 'Acesso Negado';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58386" y="4591307"/>
            <a:ext cx="7632630" cy="1867405"/>
            <a:chOff x="0" y="0"/>
            <a:chExt cx="10176840" cy="24898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76891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176891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761855" y="0"/>
                  </a:lnTo>
                  <a:cubicBezTo>
                    <a:pt x="9991090" y="0"/>
                    <a:pt x="10176891" y="185801"/>
                    <a:pt x="10176891" y="415036"/>
                  </a:cubicBezTo>
                  <a:lnTo>
                    <a:pt x="10176891" y="2074926"/>
                  </a:lnTo>
                  <a:cubicBezTo>
                    <a:pt x="10176891" y="2304161"/>
                    <a:pt x="9991090" y="2489962"/>
                    <a:pt x="9761855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265539" y="4598451"/>
            <a:ext cx="109814" cy="1853108"/>
            <a:chOff x="0" y="0"/>
            <a:chExt cx="146418" cy="24708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700146" y="4891249"/>
            <a:ext cx="681774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Acesso não autorizado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00146" y="5577592"/>
            <a:ext cx="6817747" cy="6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Quando a sessão não existe, verificarAcesso.php redireciona para esta página.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65523" y="7199386"/>
            <a:ext cx="15456865" cy="1386973"/>
            <a:chOff x="0" y="0"/>
            <a:chExt cx="20609154" cy="18492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609179" cy="1849247"/>
            </a:xfrm>
            <a:custGeom>
              <a:avLst/>
              <a:gdLst/>
              <a:ahLst/>
              <a:cxnLst/>
              <a:rect r="r" b="b" t="t" l="l"/>
              <a:pathLst>
                <a:path h="1849247" w="20609179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0300950" y="0"/>
                  </a:lnTo>
                  <a:cubicBezTo>
                    <a:pt x="20471130" y="0"/>
                    <a:pt x="20609179" y="138049"/>
                    <a:pt x="20609179" y="308229"/>
                  </a:cubicBezTo>
                  <a:lnTo>
                    <a:pt x="20609179" y="1541018"/>
                  </a:lnTo>
                  <a:cubicBezTo>
                    <a:pt x="20609179" y="1711198"/>
                    <a:pt x="20471130" y="1849247"/>
                    <a:pt x="20300950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72676" y="7206529"/>
            <a:ext cx="109814" cy="1372676"/>
            <a:chOff x="0" y="0"/>
            <a:chExt cx="146418" cy="18302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807283" y="7499328"/>
            <a:ext cx="1464198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Ciclo completo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07283" y="8185671"/>
            <a:ext cx="14641982" cy="15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Login → sessão criada → páginas protegidas → logout → sessão removida.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Você no Comando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APLICAÇÃO DO MESMO CONCEITO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1761563"/>
            <a:ext cx="9425826" cy="64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O exemplo trabalha com professores em vez de amigos.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index.php recebe usuário e senha.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loginAction.php consulta a tabela professor.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$_SESSION['logado'] é criada após o login válido.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professor.php verifica a sessão antes de exibir a listagem.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logoutAction.php remove a sessão e retorna ao login.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87284" y="1990373"/>
            <a:ext cx="6039755" cy="3637578"/>
            <a:chOff x="0" y="0"/>
            <a:chExt cx="8053006" cy="48501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53070" cy="4850130"/>
            </a:xfrm>
            <a:custGeom>
              <a:avLst/>
              <a:gdLst/>
              <a:ahLst/>
              <a:cxnLst/>
              <a:rect r="r" b="b" t="t" l="l"/>
              <a:pathLst>
                <a:path h="4850130" w="8053070">
                  <a:moveTo>
                    <a:pt x="0" y="808355"/>
                  </a:moveTo>
                  <a:cubicBezTo>
                    <a:pt x="0" y="361950"/>
                    <a:pt x="361950" y="0"/>
                    <a:pt x="808355" y="0"/>
                  </a:cubicBezTo>
                  <a:lnTo>
                    <a:pt x="7244588" y="0"/>
                  </a:lnTo>
                  <a:cubicBezTo>
                    <a:pt x="7691120" y="0"/>
                    <a:pt x="8053070" y="361950"/>
                    <a:pt x="8053070" y="808355"/>
                  </a:cubicBezTo>
                  <a:lnTo>
                    <a:pt x="8053070" y="4041775"/>
                  </a:lnTo>
                  <a:cubicBezTo>
                    <a:pt x="8053070" y="4488180"/>
                    <a:pt x="7691120" y="4850130"/>
                    <a:pt x="7244714" y="4850130"/>
                  </a:cubicBezTo>
                  <a:lnTo>
                    <a:pt x="808355" y="4850130"/>
                  </a:lnTo>
                  <a:cubicBezTo>
                    <a:pt x="361950" y="4850130"/>
                    <a:pt x="0" y="4488180"/>
                    <a:pt x="0" y="4041775"/>
                  </a:cubicBezTo>
                  <a:close/>
                </a:path>
              </a:pathLst>
            </a:custGeom>
            <a:solidFill>
              <a:srgbClr val="1D232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25802" y="2153193"/>
            <a:ext cx="5362718" cy="326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$sql = "SELECT * FROM professor";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$resultado = $conexao-&gt;query($sql);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foreach ($resultado as $linha) {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echo $linha['nome'];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    echo $linha['disciplina'];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BF0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180131" y="6101239"/>
            <a:ext cx="6054061" cy="1730140"/>
            <a:chOff x="0" y="0"/>
            <a:chExt cx="8072082" cy="23068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1993" cy="2306828"/>
            </a:xfrm>
            <a:custGeom>
              <a:avLst/>
              <a:gdLst/>
              <a:ahLst/>
              <a:cxnLst/>
              <a:rect r="r" b="b" t="t" l="l"/>
              <a:pathLst>
                <a:path h="2306828" w="8071993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7687564" y="0"/>
                  </a:lnTo>
                  <a:cubicBezTo>
                    <a:pt x="7899908" y="0"/>
                    <a:pt x="8071993" y="172085"/>
                    <a:pt x="8071993" y="384429"/>
                  </a:cubicBezTo>
                  <a:lnTo>
                    <a:pt x="8071993" y="1922399"/>
                  </a:lnTo>
                  <a:cubicBezTo>
                    <a:pt x="8071993" y="2134743"/>
                    <a:pt x="7899908" y="2306828"/>
                    <a:pt x="7687564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187284" y="6108392"/>
            <a:ext cx="109814" cy="1715843"/>
            <a:chOff x="0" y="0"/>
            <a:chExt cx="146418" cy="2287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621891" y="6401191"/>
            <a:ext cx="523917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Aprendizado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21891" y="7087533"/>
            <a:ext cx="5239179" cy="4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 mesma estrutura de autenticação pode proteger diferentes áreas de uma aplicação.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Habilidades demonstradas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COMPETÊNCIAS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719" y="1708690"/>
            <a:ext cx="5230454" cy="2141944"/>
            <a:chOff x="0" y="0"/>
            <a:chExt cx="6973938" cy="2855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872" y="1715843"/>
            <a:ext cx="109814" cy="2127647"/>
            <a:chOff x="0" y="0"/>
            <a:chExt cx="146418" cy="28368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95479" y="2008642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PHP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5479" y="2694975"/>
            <a:ext cx="44155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POST • SESSION • condicionais • foreach • require_once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3043" y="1708690"/>
            <a:ext cx="5230454" cy="2141944"/>
            <a:chOff x="0" y="0"/>
            <a:chExt cx="6973938" cy="2855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20196" y="1715843"/>
            <a:ext cx="109814" cy="2127647"/>
            <a:chOff x="0" y="0"/>
            <a:chExt cx="146418" cy="28368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54803" y="2008642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Banco de dados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4803" y="2694975"/>
            <a:ext cx="44155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MySQL • SELECT • INSERT • UPDATE • DELETE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72366" y="1708690"/>
            <a:ext cx="5230454" cy="2141944"/>
            <a:chOff x="0" y="0"/>
            <a:chExt cx="6973938" cy="28559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9519" y="1715843"/>
            <a:ext cx="109814" cy="2127647"/>
            <a:chOff x="0" y="0"/>
            <a:chExt cx="146418" cy="28368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514126" y="2008642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Web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14126" y="2694975"/>
            <a:ext cx="44155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HTML • formulários • links • W3.CSS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3719" y="4385405"/>
            <a:ext cx="5230454" cy="2141944"/>
            <a:chOff x="0" y="0"/>
            <a:chExt cx="6973938" cy="28559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60872" y="4392549"/>
            <a:ext cx="109814" cy="2127647"/>
            <a:chOff x="0" y="0"/>
            <a:chExt cx="146418" cy="28368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95479" y="4685357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Organização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5479" y="5371690"/>
            <a:ext cx="44155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Separação de cabeçalho, rodapé, conexão e controle de acesso.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513043" y="4385405"/>
            <a:ext cx="5230454" cy="2141944"/>
            <a:chOff x="0" y="0"/>
            <a:chExt cx="6973938" cy="28559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520196" y="4392549"/>
            <a:ext cx="109814" cy="2127647"/>
            <a:chOff x="0" y="0"/>
            <a:chExt cx="146418" cy="28368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6954803" y="4685357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Autenticação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54803" y="5371690"/>
            <a:ext cx="44155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Login, sessão, proteção de páginas e logout.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072366" y="4385405"/>
            <a:ext cx="5230454" cy="2141944"/>
            <a:chOff x="0" y="0"/>
            <a:chExt cx="6973938" cy="28559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9519" y="4392549"/>
            <a:ext cx="109814" cy="2127647"/>
            <a:chOff x="0" y="0"/>
            <a:chExt cx="146418" cy="28368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6282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514126" y="4685357"/>
            <a:ext cx="441557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C62828"/>
                </a:solidFill>
                <a:latin typeface="Aptos Bold"/>
                <a:ea typeface="Aptos Bold"/>
                <a:cs typeface="Aptos Bold"/>
                <a:sym typeface="Aptos Bold"/>
              </a:rPr>
              <a:t>CRUD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14126" y="5371690"/>
            <a:ext cx="4415571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Criar, consultar, atualizar e excluir registros.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738199" y="7336650"/>
            <a:ext cx="12780150" cy="1318336"/>
            <a:chOff x="0" y="0"/>
            <a:chExt cx="17040200" cy="175778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40225" cy="1757807"/>
            </a:xfrm>
            <a:custGeom>
              <a:avLst/>
              <a:gdLst/>
              <a:ahLst/>
              <a:cxnLst/>
              <a:rect r="r" b="b" t="t" l="l"/>
              <a:pathLst>
                <a:path h="1757807" w="17040225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16747237" y="0"/>
                  </a:lnTo>
                  <a:cubicBezTo>
                    <a:pt x="16909035" y="0"/>
                    <a:pt x="17040225" y="131191"/>
                    <a:pt x="17040225" y="292989"/>
                  </a:cubicBezTo>
                  <a:lnTo>
                    <a:pt x="17040225" y="1464818"/>
                  </a:lnTo>
                  <a:cubicBezTo>
                    <a:pt x="17040225" y="1626616"/>
                    <a:pt x="16909035" y="1757807"/>
                    <a:pt x="16747237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745343" y="7343794"/>
            <a:ext cx="109814" cy="1304039"/>
            <a:chOff x="0" y="0"/>
            <a:chExt cx="146418" cy="17387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431" cy="1738757"/>
            </a:xfrm>
            <a:custGeom>
              <a:avLst/>
              <a:gdLst/>
              <a:ahLst/>
              <a:cxnLst/>
              <a:rect r="r" b="b" t="t" l="l"/>
              <a:pathLst>
                <a:path h="173875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26A69A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3179950" y="7636593"/>
            <a:ext cx="1196526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6A69A"/>
                </a:solidFill>
                <a:latin typeface="Aptos Bold"/>
                <a:ea typeface="Aptos Bold"/>
                <a:cs typeface="Aptos Bold"/>
                <a:sym typeface="Aptos Bold"/>
              </a:rPr>
              <a:t>Resultado técnico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179950" y="8322935"/>
            <a:ext cx="11965267" cy="8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O projeto integra front-end, PHP, banco de dados e controle de sessão em um fluxo funcional.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219627"/>
            <a:chOff x="0" y="0"/>
            <a:chExt cx="24402453" cy="29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92862"/>
            </a:xfrm>
            <a:custGeom>
              <a:avLst/>
              <a:gdLst/>
              <a:ahLst/>
              <a:cxnLst/>
              <a:rect r="r" b="b" t="t" l="l"/>
              <a:pathLst>
                <a:path h="29286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67338"/>
            <a:ext cx="1601465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Roteiro para demonstrar o projeto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4499" y="635965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APRESENTAÇÃO PRÁTICA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0984" y="2257758"/>
            <a:ext cx="2965542" cy="1386973"/>
            <a:chOff x="0" y="0"/>
            <a:chExt cx="3954056" cy="1849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26842" y="2612622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Login</a:t>
            </a:r>
          </a:p>
        </p:txBody>
      </p:sp>
      <p:sp>
        <p:nvSpPr>
          <p:cNvPr name="AutoShape 11" id="11"/>
          <p:cNvSpPr/>
          <p:nvPr/>
        </p:nvSpPr>
        <p:spPr>
          <a:xfrm rot="152040">
            <a:off x="4029894" y="2941720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865837" y="2257758"/>
            <a:ext cx="2965542" cy="1386973"/>
            <a:chOff x="0" y="0"/>
            <a:chExt cx="3954056" cy="1849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01695" y="2612622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Menu</a:t>
            </a:r>
          </a:p>
        </p:txBody>
      </p:sp>
      <p:sp>
        <p:nvSpPr>
          <p:cNvPr name="AutoShape 15" id="15"/>
          <p:cNvSpPr/>
          <p:nvPr/>
        </p:nvSpPr>
        <p:spPr>
          <a:xfrm rot="152040">
            <a:off x="7804747" y="2941720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640689" y="2257758"/>
            <a:ext cx="2965542" cy="1386973"/>
            <a:chOff x="0" y="0"/>
            <a:chExt cx="3954056" cy="1849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876538" y="2612622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Cadastrar</a:t>
            </a:r>
          </a:p>
        </p:txBody>
      </p:sp>
      <p:sp>
        <p:nvSpPr>
          <p:cNvPr name="AutoShape 19" id="19"/>
          <p:cNvSpPr/>
          <p:nvPr/>
        </p:nvSpPr>
        <p:spPr>
          <a:xfrm rot="152040">
            <a:off x="11579590" y="2941720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415533" y="2257758"/>
            <a:ext cx="2965542" cy="1386973"/>
            <a:chOff x="0" y="0"/>
            <a:chExt cx="3954056" cy="18492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651391" y="2612622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Listar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0984" y="5003102"/>
            <a:ext cx="2965542" cy="1386973"/>
            <a:chOff x="0" y="0"/>
            <a:chExt cx="3954056" cy="18492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26842" y="5357965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Atualizar</a:t>
            </a:r>
          </a:p>
        </p:txBody>
      </p:sp>
      <p:sp>
        <p:nvSpPr>
          <p:cNvPr name="AutoShape 26" id="26"/>
          <p:cNvSpPr/>
          <p:nvPr/>
        </p:nvSpPr>
        <p:spPr>
          <a:xfrm rot="152040">
            <a:off x="4029894" y="5687063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865837" y="5003102"/>
            <a:ext cx="2965542" cy="1386973"/>
            <a:chOff x="0" y="0"/>
            <a:chExt cx="3954056" cy="18492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5101695" y="5357965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Excluir</a:t>
            </a:r>
          </a:p>
        </p:txBody>
      </p:sp>
      <p:sp>
        <p:nvSpPr>
          <p:cNvPr name="AutoShape 30" id="30"/>
          <p:cNvSpPr/>
          <p:nvPr/>
        </p:nvSpPr>
        <p:spPr>
          <a:xfrm rot="152040">
            <a:off x="7804747" y="5687063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8640689" y="5003102"/>
            <a:ext cx="2965542" cy="1386973"/>
            <a:chOff x="0" y="0"/>
            <a:chExt cx="3954056" cy="18492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8876538" y="5357965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Logout</a:t>
            </a:r>
          </a:p>
        </p:txBody>
      </p:sp>
      <p:sp>
        <p:nvSpPr>
          <p:cNvPr name="AutoShape 34" id="34"/>
          <p:cNvSpPr/>
          <p:nvPr/>
        </p:nvSpPr>
        <p:spPr>
          <a:xfrm rot="152040">
            <a:off x="11579590" y="5687063"/>
            <a:ext cx="862574" cy="0"/>
          </a:xfrm>
          <a:prstGeom prst="line">
            <a:avLst/>
          </a:prstGeom>
          <a:ln cap="rnd" w="19050">
            <a:solidFill>
              <a:srgbClr val="26A6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2415533" y="5003102"/>
            <a:ext cx="2965542" cy="1386973"/>
            <a:chOff x="0" y="0"/>
            <a:chExt cx="3954056" cy="18492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26A69A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51391" y="5357965"/>
            <a:ext cx="2493836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Acesso negado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5479" y="7379989"/>
            <a:ext cx="15465590" cy="142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Durante a demonstração, explique o que aparece na tela e qual arquivo PHP executa cada etapa.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• Mostre rapidamente o código responsável pela sessão e pelas operações SQL.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7F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4116" y="1761563"/>
            <a:ext cx="15328316" cy="155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16202A"/>
                </a:solidFill>
                <a:latin typeface="Aptos Bold"/>
                <a:ea typeface="Aptos Bold"/>
                <a:cs typeface="Aptos Bold"/>
                <a:sym typeface="Aptos Bold"/>
              </a:rPr>
              <a:t>Conclusão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65523" y="3630435"/>
            <a:ext cx="15525493" cy="2141944"/>
            <a:chOff x="0" y="0"/>
            <a:chExt cx="20700657" cy="2855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00619" cy="2855976"/>
            </a:xfrm>
            <a:custGeom>
              <a:avLst/>
              <a:gdLst/>
              <a:ahLst/>
              <a:cxnLst/>
              <a:rect r="r" b="b" t="t" l="l"/>
              <a:pathLst>
                <a:path h="2855976" w="20700619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0224623" y="0"/>
                  </a:lnTo>
                  <a:cubicBezTo>
                    <a:pt x="20487512" y="0"/>
                    <a:pt x="20700619" y="213106"/>
                    <a:pt x="20700619" y="475996"/>
                  </a:cubicBezTo>
                  <a:lnTo>
                    <a:pt x="20700619" y="2379980"/>
                  </a:lnTo>
                  <a:cubicBezTo>
                    <a:pt x="20700619" y="2642870"/>
                    <a:pt x="20487512" y="2855976"/>
                    <a:pt x="2022462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2676" y="3637578"/>
            <a:ext cx="109814" cy="2127647"/>
            <a:chOff x="0" y="0"/>
            <a:chExt cx="146418" cy="2836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00796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07283" y="3930386"/>
            <a:ext cx="1471062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0796B"/>
                </a:solidFill>
                <a:latin typeface="Aptos Bold"/>
                <a:ea typeface="Aptos Bold"/>
                <a:cs typeface="Aptos Bold"/>
                <a:sym typeface="Aptos Bold"/>
              </a:rPr>
              <a:t>O que foi aprendido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07283" y="4616720"/>
            <a:ext cx="14710620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O projeto mostra como organizar páginas PHP, reutilizar arquivos com require_once, trabalhar com MySQL, construir um CRUD e controlar o acesso usando Sessions.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65523" y="6238513"/>
            <a:ext cx="15525493" cy="1592875"/>
            <a:chOff x="0" y="0"/>
            <a:chExt cx="20700657" cy="2123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00619" cy="2123821"/>
            </a:xfrm>
            <a:custGeom>
              <a:avLst/>
              <a:gdLst/>
              <a:ahLst/>
              <a:cxnLst/>
              <a:rect r="r" b="b" t="t" l="l"/>
              <a:pathLst>
                <a:path h="2123821" w="2070061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0346670" y="0"/>
                  </a:lnTo>
                  <a:cubicBezTo>
                    <a:pt x="20542123" y="0"/>
                    <a:pt x="20700619" y="158496"/>
                    <a:pt x="20700619" y="353949"/>
                  </a:cubicBezTo>
                  <a:lnTo>
                    <a:pt x="20700619" y="1769872"/>
                  </a:lnTo>
                  <a:cubicBezTo>
                    <a:pt x="20700619" y="1965325"/>
                    <a:pt x="20542123" y="2123821"/>
                    <a:pt x="2034667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1E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2676" y="6245657"/>
            <a:ext cx="109814" cy="1578569"/>
            <a:chOff x="0" y="0"/>
            <a:chExt cx="146418" cy="2104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431" cy="2104771"/>
            </a:xfrm>
            <a:custGeom>
              <a:avLst/>
              <a:gdLst/>
              <a:ahLst/>
              <a:cxnLst/>
              <a:rect r="r" b="b" t="t" l="l"/>
              <a:pathLst>
                <a:path h="210477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807283" y="6538465"/>
            <a:ext cx="1471062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E7D32"/>
                </a:solidFill>
                <a:latin typeface="Aptos Bold"/>
                <a:ea typeface="Aptos Bold"/>
                <a:cs typeface="Aptos Bold"/>
                <a:sym typeface="Aptos Bold"/>
              </a:rPr>
              <a:t>Mensagem final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7283" y="7224798"/>
            <a:ext cx="14710620" cy="3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6202A"/>
                </a:solidFill>
                <a:latin typeface="Aptos"/>
                <a:ea typeface="Aptos"/>
                <a:cs typeface="Aptos"/>
                <a:sym typeface="Aptos"/>
              </a:rPr>
              <a:t>A Agenda 08 conecta conceitos de programação PHP com uma aplicação web funcional e integrada ao banco de dados.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675" y="9754714"/>
            <a:ext cx="16289188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A6670"/>
                </a:solidFill>
                <a:latin typeface="Aptos"/>
                <a:ea typeface="Aptos"/>
                <a:cs typeface="Aptos"/>
                <a:sym typeface="Aptos"/>
              </a:rPr>
              <a:t>Agenda 08 • Programação Web II                                 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DAHWc0Lwh08</dc:identifier>
  <dcterms:modified xsi:type="dcterms:W3CDTF">2011-08-01T06:04:30Z</dcterms:modified>
  <cp:revision>1</cp:revision>
  <dc:title>Apresentacao_Agenda08_CRUD_Login_Gabi.pptx</dc:title>
</cp:coreProperties>
</file>